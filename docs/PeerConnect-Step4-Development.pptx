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510528"/>
            <a:ext cx="11384280" cy="0"/>
          </a:xfrm>
          <a:prstGeom prst="line">
            <a:avLst/>
          </a:prstGeom>
          <a:noFill/>
          <a:ln w="12700">
            <a:solidFill>
              <a:srgbClr val="D7DEE8">
                <a:alpha val="92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583680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PeerConnect | Step 4 Dynamic Website Development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08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08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53035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FB3C8"/>
                </a:solidFill>
              </a:rPr>
              <a:t>ESPRIT SCHOOL OF BUSINESS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PeerConnect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94360" y="1664208"/>
            <a:ext cx="7040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Step 4: Development of a Dynamic Website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21792" y="2606040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DEE8"/>
                </a:solidFill>
              </a:rPr>
              <a:t>Laravel web application evidence: account management, database integration, reporting moderation, testing, and Git workflow.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21792" y="3749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D166"/>
                </a:solidFill>
              </a:rPr>
              <a:t>21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21792" y="41605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</a:rPr>
              <a:t>demo accounts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377440" y="37490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D166"/>
                </a:solidFill>
              </a:rPr>
              <a:t>8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377440" y="41605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</a:rPr>
              <a:t>captured screenshots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389120" y="3749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D166"/>
                </a:solidFill>
              </a:rPr>
              <a:t>2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389120" y="41605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</a:rPr>
              <a:t>tests passing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931152" y="658368"/>
            <a:ext cx="4791456" cy="2825496"/>
          </a:xfrm>
          <a:prstGeom prst="roundRect">
            <a:avLst>
              <a:gd name="adj" fmla="val 258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pic>
        <p:nvPicPr>
          <p:cNvPr id="14" name="Image 0" descr="C:\xampp\htdocs\peerconnect\docs\screenshots\03-student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676656"/>
            <a:ext cx="4754880" cy="278892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428232" y="3675888"/>
            <a:ext cx="5294376" cy="2368296"/>
          </a:xfrm>
          <a:prstGeom prst="roundRect">
            <a:avLst>
              <a:gd name="adj" fmla="val 308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pic>
        <p:nvPicPr>
          <p:cNvPr id="16" name="Image 1" descr="C:\xampp\htdocs\peerconnect\docs\screenshots\06-admin-repor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3694176"/>
            <a:ext cx="5257800" cy="23317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21792" y="6291072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8"/>
                </a:solidFill>
              </a:rPr>
              <a:t>Mohamed Amine Klila - Bara Whibi - Eya Rbaii - Nour Mediouni - Yasmine Mejri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8B8D"/>
                </a:solidFill>
              </a:rPr>
              <a:t>PLANNING FIT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212B"/>
                </a:solidFill>
              </a:rPr>
              <a:t>Step 4 turns the DS1 design into working software.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21208" y="12984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67085"/>
                </a:solidFill>
              </a:rPr>
              <a:t>The PI planning asks for Laravel development, database integration, account management, testing, and Git/GitHub version control.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2057400"/>
            <a:ext cx="24231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24028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7085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26974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7212B"/>
                </a:solidFill>
              </a:rPr>
              <a:t>Requirements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896112" y="3063240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</a:rPr>
              <a:t>DS1 defined the problem, users, features, and constraints.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3547872" y="2057400"/>
            <a:ext cx="24231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12464" y="224028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7085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712464" y="26974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7212B"/>
                </a:solidFill>
              </a:rPr>
              <a:t>UML design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3712464" y="3063240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</a:rPr>
              <a:t>Use cases, classes, objects, and sequences described the system.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6364224" y="2057400"/>
            <a:ext cx="24231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28816" y="224028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7085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28816" y="26974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7212B"/>
                </a:solidFill>
              </a:rPr>
              <a:t>Database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6528816" y="3063240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</a:rPr>
              <a:t>Relational tables translate the object model into persistence.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9180576" y="2057400"/>
            <a:ext cx="2423160" cy="2057400"/>
          </a:xfrm>
          <a:prstGeom prst="roundRect">
            <a:avLst>
              <a:gd name="adj" fmla="val 3556"/>
            </a:avLst>
          </a:prstGeom>
          <a:solidFill>
            <a:srgbClr val="EEF4FF"/>
          </a:solidFill>
          <a:ln w="12700">
            <a:solidFill>
              <a:srgbClr val="1457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45168" y="224028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7D9"/>
                </a:solidFill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345168" y="26974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7212B"/>
                </a:solidFill>
              </a:rPr>
              <a:t>Dynamic website</a:t>
            </a:r>
            <a:endParaRPr lang="en-US" sz="1320" dirty="0"/>
          </a:p>
        </p:txBody>
      </p:sp>
      <p:sp>
        <p:nvSpPr>
          <p:cNvPr id="20" name="Text 18"/>
          <p:cNvSpPr/>
          <p:nvPr/>
        </p:nvSpPr>
        <p:spPr>
          <a:xfrm>
            <a:off x="9345168" y="3063240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</a:rPr>
              <a:t>Laravel implementation connects UI, routes, models, data, tests, and Git.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188720" y="4919472"/>
            <a:ext cx="9875520" cy="0"/>
          </a:xfrm>
          <a:prstGeom prst="line">
            <a:avLst/>
          </a:prstGeom>
          <a:noFill/>
          <a:ln w="12700">
            <a:solidFill>
              <a:srgbClr val="0F8B8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08760" y="523036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</a:rPr>
              <a:t>Deliverable focus: a functioning PeerConnect web app, not only diagrams.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08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8B8D"/>
                </a:solidFill>
              </a:rPr>
              <a:t>ARCHITECTURE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212B"/>
                </a:solidFill>
              </a:rPr>
              <a:t>Laravel MVC keeps the dynamic website organized and reusable.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21208" y="12984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67085"/>
                </a:solidFill>
              </a:rPr>
              <a:t>Controllers coordinate requests, Eloquent models persist data, Blade views render the interface, and middleware protects admin-only pages.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94360" y="1901952"/>
            <a:ext cx="214884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901952"/>
            <a:ext cx="64008" cy="1234440"/>
          </a:xfrm>
          <a:prstGeom prst="rect">
            <a:avLst/>
          </a:prstGeom>
          <a:solidFill>
            <a:srgbClr val="1457D9"/>
          </a:solidFill>
          <a:ln w="12700">
            <a:solidFill>
              <a:srgbClr val="1457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66544"/>
            <a:ext cx="1801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</a:rPr>
              <a:t>Routes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404872"/>
            <a:ext cx="1801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</a:rPr>
              <a:t>web.php maps public, authenticated, and admin flows.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63240" y="1901952"/>
            <a:ext cx="214884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63240" y="1901952"/>
            <a:ext cx="64008" cy="1234440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2066544"/>
            <a:ext cx="1801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</a:rPr>
              <a:t>Controllers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91840" y="2404872"/>
            <a:ext cx="1801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</a:rPr>
              <a:t>Dashboard, Profile, Message, Admin, and Report controllers handle behavior.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532120" y="1901952"/>
            <a:ext cx="214884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32120" y="1901952"/>
            <a:ext cx="64008" cy="1234440"/>
          </a:xfrm>
          <a:prstGeom prst="rect">
            <a:avLst/>
          </a:prstGeom>
          <a:solidFill>
            <a:srgbClr val="E84A5F"/>
          </a:solidFill>
          <a:ln w="12700">
            <a:solidFill>
              <a:srgbClr val="E84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0" y="2066544"/>
            <a:ext cx="1801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</a:rPr>
              <a:t>Models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760720" y="2404872"/>
            <a:ext cx="1801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</a:rPr>
              <a:t>User, Profile, Connection, Message, Report, Interest, AccessLog.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001000" y="1901952"/>
            <a:ext cx="214884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01000" y="1901952"/>
            <a:ext cx="64008" cy="1234440"/>
          </a:xfrm>
          <a:prstGeom prst="rect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2066544"/>
            <a:ext cx="1801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</a:rPr>
              <a:t>Blade UI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0" y="2404872"/>
            <a:ext cx="1801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</a:rPr>
              <a:t>Responsive pages for discovery, profiles, reports, and admin management.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61488" y="2395728"/>
            <a:ext cx="292608" cy="256032"/>
          </a:xfrm>
          <a:prstGeom prst="chevron">
            <a:avLst/>
          </a:prstGeom>
          <a:solidFill>
            <a:srgbClr val="D7DEE8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30368" y="2395728"/>
            <a:ext cx="292608" cy="256032"/>
          </a:xfrm>
          <a:prstGeom prst="chevron">
            <a:avLst/>
          </a:prstGeom>
          <a:solidFill>
            <a:srgbClr val="D7DEE8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99248" y="2395728"/>
            <a:ext cx="292608" cy="256032"/>
          </a:xfrm>
          <a:prstGeom prst="chevron">
            <a:avLst/>
          </a:prstGeom>
          <a:solidFill>
            <a:srgbClr val="D7DEE8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0120" y="4160520"/>
            <a:ext cx="9509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88720" y="43708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67085"/>
                </a:solidFill>
              </a:rPr>
              <a:t>Implemented Step 4 modules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188720" y="4700016"/>
            <a:ext cx="1920240" cy="310896"/>
          </a:xfrm>
          <a:prstGeom prst="roundRect">
            <a:avLst>
              <a:gd name="adj" fmla="val 23529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98448" y="4773168"/>
            <a:ext cx="17007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457D9"/>
                </a:solidFill>
              </a:rPr>
              <a:t>Authentication</a:t>
            </a:r>
            <a:endParaRPr lang="en-US" sz="820" dirty="0"/>
          </a:p>
        </p:txBody>
      </p:sp>
      <p:sp>
        <p:nvSpPr>
          <p:cNvPr id="28" name="Shape 26"/>
          <p:cNvSpPr/>
          <p:nvPr/>
        </p:nvSpPr>
        <p:spPr>
          <a:xfrm>
            <a:off x="3520440" y="4700016"/>
            <a:ext cx="1920240" cy="310896"/>
          </a:xfrm>
          <a:prstGeom prst="roundRect">
            <a:avLst>
              <a:gd name="adj" fmla="val 23529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30168" y="4773168"/>
            <a:ext cx="17007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457D9"/>
                </a:solidFill>
              </a:rPr>
              <a:t>Swipe discovery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5852160" y="4700016"/>
            <a:ext cx="1920240" cy="310896"/>
          </a:xfrm>
          <a:prstGeom prst="roundRect">
            <a:avLst>
              <a:gd name="adj" fmla="val 23529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61888" y="4773168"/>
            <a:ext cx="17007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457D9"/>
                </a:solidFill>
              </a:rPr>
              <a:t>Profiles</a:t>
            </a:r>
            <a:endParaRPr lang="en-US" sz="820" dirty="0"/>
          </a:p>
        </p:txBody>
      </p:sp>
      <p:sp>
        <p:nvSpPr>
          <p:cNvPr id="32" name="Shape 30"/>
          <p:cNvSpPr/>
          <p:nvPr/>
        </p:nvSpPr>
        <p:spPr>
          <a:xfrm>
            <a:off x="8183880" y="4700016"/>
            <a:ext cx="1920240" cy="310896"/>
          </a:xfrm>
          <a:prstGeom prst="roundRect">
            <a:avLst>
              <a:gd name="adj" fmla="val 23529"/>
            </a:avLst>
          </a:prstGeom>
          <a:solidFill>
            <a:srgbClr val="FFECEF"/>
          </a:solidFill>
          <a:ln w="12700">
            <a:solidFill>
              <a:srgbClr val="FFECE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93608" y="4773168"/>
            <a:ext cx="17007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E84A5F"/>
                </a:solidFill>
              </a:rPr>
              <a:t>Reports</a:t>
            </a:r>
            <a:endParaRPr lang="en-US" sz="820" dirty="0"/>
          </a:p>
        </p:txBody>
      </p:sp>
      <p:sp>
        <p:nvSpPr>
          <p:cNvPr id="34" name="Shape 32"/>
          <p:cNvSpPr/>
          <p:nvPr/>
        </p:nvSpPr>
        <p:spPr>
          <a:xfrm>
            <a:off x="1188720" y="5084064"/>
            <a:ext cx="1920240" cy="310896"/>
          </a:xfrm>
          <a:prstGeom prst="roundRect">
            <a:avLst>
              <a:gd name="adj" fmla="val 23529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298448" y="5157216"/>
            <a:ext cx="17007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457D9"/>
                </a:solidFill>
              </a:rPr>
              <a:t>Admin dashboard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3520440" y="5084064"/>
            <a:ext cx="1920240" cy="310896"/>
          </a:xfrm>
          <a:prstGeom prst="roundRect">
            <a:avLst>
              <a:gd name="adj" fmla="val 23529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0168" y="5157216"/>
            <a:ext cx="17007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457D9"/>
                </a:solidFill>
              </a:rPr>
              <a:t>Access logs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5852160" y="5084064"/>
            <a:ext cx="1920240" cy="310896"/>
          </a:xfrm>
          <a:prstGeom prst="roundRect">
            <a:avLst>
              <a:gd name="adj" fmla="val 23529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61888" y="5157216"/>
            <a:ext cx="17007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457D9"/>
                </a:solidFill>
              </a:rPr>
              <a:t>Seeded demo data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08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8B8D"/>
                </a:solidFill>
              </a:rPr>
              <a:t>ACCOUNT MANAGEMENT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212B"/>
                </a:solidFill>
              </a:rPr>
              <a:t>Simplified demo credentials make the application easy to test.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21208" y="12984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67085"/>
                </a:solidFill>
              </a:rPr>
              <a:t>The seed data creates one admin account and twenty student/teacher profiles for realistic role-based demonstrations.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4837176" cy="2779776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pic>
        <p:nvPicPr>
          <p:cNvPr id="6" name="Image 0" descr="C:\xampp\htdocs\peerconnect\docs\screenshots\02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47088"/>
            <a:ext cx="4800600" cy="2743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43600" y="1828800"/>
            <a:ext cx="534924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63640" y="20848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12B"/>
                </a:solidFill>
              </a:rPr>
              <a:t>Credentials file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458200" y="213969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7D9"/>
                </a:solidFill>
              </a:rPr>
              <a:t>docs/demo-accounts.md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263640" y="269748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12B"/>
                </a:solidFill>
              </a:rPr>
              <a:t>Admin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315200" y="269748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</a:rPr>
              <a:t>admin@peerconnect.test</a:t>
            </a:r>
            <a:endParaRPr lang="en-US" sz="920" dirty="0"/>
          </a:p>
        </p:txBody>
      </p:sp>
      <p:sp>
        <p:nvSpPr>
          <p:cNvPr id="12" name="Text 9"/>
          <p:cNvSpPr/>
          <p:nvPr/>
        </p:nvSpPr>
        <p:spPr>
          <a:xfrm>
            <a:off x="9921240" y="26974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E84A5F"/>
                </a:solidFill>
              </a:rPr>
              <a:t>admin123</a:t>
            </a:r>
            <a:endParaRPr lang="en-US" sz="920" dirty="0"/>
          </a:p>
        </p:txBody>
      </p:sp>
      <p:sp>
        <p:nvSpPr>
          <p:cNvPr id="13" name="Text 10"/>
          <p:cNvSpPr/>
          <p:nvPr/>
        </p:nvSpPr>
        <p:spPr>
          <a:xfrm>
            <a:off x="6263640" y="326440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12B"/>
                </a:solidFill>
              </a:rPr>
              <a:t>Student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315200" y="326440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</a:rPr>
              <a:t>yasmine@student.peerconnect.test</a:t>
            </a:r>
            <a:endParaRPr lang="en-US" sz="920" dirty="0"/>
          </a:p>
        </p:txBody>
      </p:sp>
      <p:sp>
        <p:nvSpPr>
          <p:cNvPr id="15" name="Text 12"/>
          <p:cNvSpPr/>
          <p:nvPr/>
        </p:nvSpPr>
        <p:spPr>
          <a:xfrm>
            <a:off x="9921240" y="3264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E84A5F"/>
                </a:solidFill>
              </a:rPr>
              <a:t>password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6263640" y="3831336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12B"/>
                </a:solidFill>
              </a:rPr>
              <a:t>Teacher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315200" y="383133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</a:rPr>
              <a:t>sami.teacher@peerconnect.test</a:t>
            </a:r>
            <a:endParaRPr lang="en-US" sz="920" dirty="0"/>
          </a:p>
        </p:txBody>
      </p:sp>
      <p:sp>
        <p:nvSpPr>
          <p:cNvPr id="18" name="Text 15"/>
          <p:cNvSpPr/>
          <p:nvPr/>
        </p:nvSpPr>
        <p:spPr>
          <a:xfrm>
            <a:off x="9921240" y="38313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E84A5F"/>
                </a:solidFill>
              </a:rPr>
              <a:t>password</a:t>
            </a:r>
            <a:endParaRPr lang="en-US" sz="920" dirty="0"/>
          </a:p>
        </p:txBody>
      </p:sp>
      <p:sp>
        <p:nvSpPr>
          <p:cNvPr id="19" name="Text 16"/>
          <p:cNvSpPr/>
          <p:nvPr/>
        </p:nvSpPr>
        <p:spPr>
          <a:xfrm>
            <a:off x="6263640" y="43434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457D9"/>
                </a:solidFill>
              </a:rPr>
              <a:t>1</a:t>
            </a:r>
            <a:endParaRPr lang="en-US" sz="2300" dirty="0"/>
          </a:p>
        </p:txBody>
      </p:sp>
      <p:sp>
        <p:nvSpPr>
          <p:cNvPr id="20" name="Text 17"/>
          <p:cNvSpPr/>
          <p:nvPr/>
        </p:nvSpPr>
        <p:spPr>
          <a:xfrm>
            <a:off x="6263640" y="47548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</a:rPr>
              <a:t>admin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7635240" y="43434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F8B8D"/>
                </a:solidFill>
              </a:rPr>
              <a:t>10</a:t>
            </a:r>
            <a:endParaRPr lang="en-US" sz="2300" dirty="0"/>
          </a:p>
        </p:txBody>
      </p:sp>
      <p:sp>
        <p:nvSpPr>
          <p:cNvPr id="22" name="Text 19"/>
          <p:cNvSpPr/>
          <p:nvPr/>
        </p:nvSpPr>
        <p:spPr>
          <a:xfrm>
            <a:off x="7635240" y="47548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</a:rPr>
              <a:t>students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9189720" y="43434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E84A5F"/>
                </a:solidFill>
              </a:rPr>
              <a:t>10</a:t>
            </a:r>
            <a:endParaRPr lang="en-US" sz="2300" dirty="0"/>
          </a:p>
        </p:txBody>
      </p:sp>
      <p:sp>
        <p:nvSpPr>
          <p:cNvPr id="24" name="Text 21"/>
          <p:cNvSpPr/>
          <p:nvPr/>
        </p:nvSpPr>
        <p:spPr>
          <a:xfrm>
            <a:off x="9189720" y="47548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</a:rPr>
              <a:t>teachers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08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8B8D"/>
                </a:solidFill>
              </a:rPr>
              <a:t>LIVE FEATURE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212B"/>
                </a:solidFill>
              </a:rPr>
              <a:t>The dashboard proves the matching flow is dynamic.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21208" y="12984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67085"/>
                </a:solidFill>
              </a:rPr>
              <a:t>A logged-in student sees a teacher deck, live counters, preview profiles, and like/pass actions driven by database records.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67512" y="1737360"/>
            <a:ext cx="7580376" cy="4334256"/>
          </a:xfrm>
          <a:prstGeom prst="roundRect">
            <a:avLst>
              <a:gd name="adj" fmla="val 1688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pic>
        <p:nvPicPr>
          <p:cNvPr id="6" name="Image 0" descr="C:\xampp\htdocs\peerconnect\docs\screenshots\03-student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55648"/>
            <a:ext cx="7543800" cy="4297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49640" y="1847088"/>
            <a:ext cx="265176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549640" y="1847088"/>
            <a:ext cx="64008" cy="960120"/>
          </a:xfrm>
          <a:prstGeom prst="rect">
            <a:avLst/>
          </a:prstGeom>
          <a:solidFill>
            <a:srgbClr val="1457D9"/>
          </a:solidFill>
          <a:ln w="12700">
            <a:solidFill>
              <a:srgbClr val="1457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78240" y="2011680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</a:rPr>
              <a:t>Role-aware discovery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778240" y="2350008"/>
            <a:ext cx="2304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</a:rPr>
              <a:t>Students discover teachers; teachers discover students.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8549640" y="3090672"/>
            <a:ext cx="265176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549640" y="3090672"/>
            <a:ext cx="64008" cy="960120"/>
          </a:xfrm>
          <a:prstGeom prst="rect">
            <a:avLst/>
          </a:prstGeom>
          <a:solidFill>
            <a:srgbClr val="E84A5F"/>
          </a:solidFill>
          <a:ln w="12700">
            <a:solidFill>
              <a:srgbClr val="E84A5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778240" y="3255264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</a:rPr>
              <a:t>Interactive matching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778240" y="3593592"/>
            <a:ext cx="2304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</a:rPr>
              <a:t>Like/pass actions update connection records.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549640" y="4334256"/>
            <a:ext cx="265176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49640" y="4334256"/>
            <a:ext cx="64008" cy="960120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78240" y="4498848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</a:rPr>
              <a:t>Notification strip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778240" y="4837176"/>
            <a:ext cx="2304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</a:rPr>
              <a:t>Likes and matches are surfaced in the navigation.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08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8B8D"/>
                </a:solidFill>
              </a:rPr>
              <a:t>NEW SAFETY FEATURE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212B"/>
                </a:solidFill>
              </a:rPr>
              <a:t>Users can report bullying, harassment, threats, spam, or unsafe behavior.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21208" y="12984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67085"/>
                </a:solidFill>
              </a:rPr>
              <a:t>The report form appears on another user's profile and records the reporter, reported account, reason, details, and pending status.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67512" y="1673352"/>
            <a:ext cx="6574536" cy="4654296"/>
          </a:xfrm>
          <a:prstGeom prst="roundRect">
            <a:avLst>
              <a:gd name="adj" fmla="val 1572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pic>
        <p:nvPicPr>
          <p:cNvPr id="6" name="Image 0" descr="C:\xampp\htdocs\peerconnect\docs\screenshots\04-report-account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6537960" cy="4617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589520" y="192024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FF8FA"/>
          </a:solidFill>
          <a:ln w="12700">
            <a:solidFill>
              <a:srgbClr val="F2B8C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09560" y="22128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2B"/>
                </a:solidFill>
              </a:rPr>
              <a:t>Stored in reports table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001000" y="2697480"/>
            <a:ext cx="256032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100" dirty="0">
                <a:solidFill>
                  <a:srgbClr val="17212B"/>
                </a:solidFill>
              </a:rPr>
              <a:t>reporter_id</a:t>
            </a:r>
            <a:endParaRPr lang="en-US" sz="1100" dirty="0"/>
          </a:p>
          <a:p>
            <a:r>
              <a:rPr lang="en-US" sz="1100" dirty="0">
                <a:solidFill>
                  <a:srgbClr val="17212B"/>
                </a:solidFill>
              </a:rPr>
              <a:t>reported_id</a:t>
            </a:r>
            <a:endParaRPr lang="en-US" sz="1100" dirty="0"/>
          </a:p>
          <a:p>
            <a:r>
              <a:rPr lang="en-US" sz="1100" dirty="0">
                <a:solidFill>
                  <a:srgbClr val="17212B"/>
                </a:solidFill>
              </a:rPr>
              <a:t>category</a:t>
            </a:r>
            <a:endParaRPr lang="en-US" sz="1100" dirty="0"/>
          </a:p>
          <a:p>
            <a:r>
              <a:rPr lang="en-US" sz="1100" dirty="0">
                <a:solidFill>
                  <a:srgbClr val="17212B"/>
                </a:solidFill>
              </a:rPr>
              <a:t>details</a:t>
            </a:r>
            <a:endParaRPr lang="en-US" sz="1100" dirty="0"/>
          </a:p>
          <a:p>
            <a:r>
              <a:rPr lang="en-US" sz="1100" dirty="0">
                <a:solidFill>
                  <a:srgbClr val="17212B"/>
                </a:solidFill>
              </a:rPr>
              <a:t>status</a:t>
            </a:r>
            <a:endParaRPr lang="en-US" sz="1100" dirty="0"/>
          </a:p>
          <a:p>
            <a:r>
              <a:rPr lang="en-US" sz="1100" dirty="0">
                <a:solidFill>
                  <a:srgbClr val="17212B"/>
                </a:solidFill>
              </a:rPr>
              <a:t>admin_notes</a:t>
            </a:r>
            <a:endParaRPr lang="en-US" sz="1100" dirty="0"/>
          </a:p>
          <a:p>
            <a:r>
              <a:rPr lang="en-US" sz="1100" dirty="0">
                <a:solidFill>
                  <a:srgbClr val="17212B"/>
                </a:solidFill>
              </a:rPr>
              <a:t>reviewed_by / reviewed_at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001000" y="4663440"/>
            <a:ext cx="2606040" cy="310896"/>
          </a:xfrm>
          <a:prstGeom prst="roundRect">
            <a:avLst>
              <a:gd name="adj" fmla="val 23529"/>
            </a:avLst>
          </a:prstGeom>
          <a:solidFill>
            <a:srgbClr val="FFECEF"/>
          </a:solidFill>
          <a:ln w="12700">
            <a:solidFill>
              <a:srgbClr val="FFECE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110728" y="4736592"/>
            <a:ext cx="23865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E84A5F"/>
                </a:solidFill>
              </a:rPr>
              <a:t>ReportController@store validates and saves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08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8B8D"/>
                </a:solidFill>
              </a:rPr>
              <a:t>ADMIN CONTROL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212B"/>
                </a:solidFill>
              </a:rPr>
              <a:t>Reports become an admin workflow, not a dead-end form.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21208" y="12984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67085"/>
                </a:solidFill>
              </a:rPr>
              <a:t>Admins can filter reports, open a case, update status, write review notes, or delete invalid reports.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673352"/>
            <a:ext cx="5431536" cy="3099816"/>
          </a:xfrm>
          <a:prstGeom prst="roundRect">
            <a:avLst>
              <a:gd name="adj" fmla="val 2360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pic>
        <p:nvPicPr>
          <p:cNvPr id="6" name="Image 0" descr="C:\xampp\htdocs\peerconnect\docs\screenshots\06-admin-repo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91640"/>
            <a:ext cx="5394960" cy="30632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336792" y="1673352"/>
            <a:ext cx="5065776" cy="3099816"/>
          </a:xfrm>
          <a:prstGeom prst="roundRect">
            <a:avLst>
              <a:gd name="adj" fmla="val 2360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pic>
        <p:nvPicPr>
          <p:cNvPr id="8" name="Image 1" descr="C:\xampp\htdocs\peerconnect\docs\screenshots\07-admin-report-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691640"/>
            <a:ext cx="5029200" cy="306324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005840" y="5230368"/>
            <a:ext cx="1691640" cy="310896"/>
          </a:xfrm>
          <a:prstGeom prst="roundRect">
            <a:avLst>
              <a:gd name="adj" fmla="val 23529"/>
            </a:avLst>
          </a:prstGeom>
          <a:solidFill>
            <a:srgbClr val="FFECEF"/>
          </a:solidFill>
          <a:ln w="12700">
            <a:solidFill>
              <a:srgbClr val="FFECE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1115568" y="5303520"/>
            <a:ext cx="1472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E84A5F"/>
                </a:solidFill>
              </a:rPr>
              <a:t>Pending</a:t>
            </a:r>
            <a:endParaRPr lang="en-US" sz="820" dirty="0"/>
          </a:p>
        </p:txBody>
      </p:sp>
      <p:sp>
        <p:nvSpPr>
          <p:cNvPr id="11" name="Shape 7"/>
          <p:cNvSpPr/>
          <p:nvPr/>
        </p:nvSpPr>
        <p:spPr>
          <a:xfrm>
            <a:off x="3611880" y="5230368"/>
            <a:ext cx="1691640" cy="310896"/>
          </a:xfrm>
          <a:prstGeom prst="roundRect">
            <a:avLst>
              <a:gd name="adj" fmla="val 23529"/>
            </a:avLst>
          </a:prstGeom>
          <a:solidFill>
            <a:srgbClr val="EAF7F7"/>
          </a:solidFill>
          <a:ln w="12700">
            <a:solidFill>
              <a:srgbClr val="EAF7F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721608" y="5303520"/>
            <a:ext cx="1472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F8B8D"/>
                </a:solidFill>
              </a:rPr>
              <a:t>Reviewing</a:t>
            </a:r>
            <a:endParaRPr lang="en-US" sz="820" dirty="0"/>
          </a:p>
        </p:txBody>
      </p:sp>
      <p:sp>
        <p:nvSpPr>
          <p:cNvPr id="13" name="Shape 9"/>
          <p:cNvSpPr/>
          <p:nvPr/>
        </p:nvSpPr>
        <p:spPr>
          <a:xfrm>
            <a:off x="6217920" y="5230368"/>
            <a:ext cx="1691640" cy="310896"/>
          </a:xfrm>
          <a:prstGeom prst="roundRect">
            <a:avLst>
              <a:gd name="adj" fmla="val 23529"/>
            </a:avLst>
          </a:prstGeom>
          <a:solidFill>
            <a:srgbClr val="EAF8F1"/>
          </a:solidFill>
          <a:ln w="12700">
            <a:solidFill>
              <a:srgbClr val="EAF8F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327648" y="5303520"/>
            <a:ext cx="1472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237A57"/>
                </a:solidFill>
              </a:rPr>
              <a:t>Resolved</a:t>
            </a:r>
            <a:endParaRPr lang="en-US" sz="820" dirty="0"/>
          </a:p>
        </p:txBody>
      </p:sp>
      <p:sp>
        <p:nvSpPr>
          <p:cNvPr id="15" name="Shape 11"/>
          <p:cNvSpPr/>
          <p:nvPr/>
        </p:nvSpPr>
        <p:spPr>
          <a:xfrm>
            <a:off x="8823960" y="5230368"/>
            <a:ext cx="1691640" cy="310896"/>
          </a:xfrm>
          <a:prstGeom prst="roundRect">
            <a:avLst>
              <a:gd name="adj" fmla="val 235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933688" y="5303520"/>
            <a:ext cx="1472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667085"/>
                </a:solidFill>
              </a:rPr>
              <a:t>Dismissed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08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8B8D"/>
                </a:solidFill>
              </a:rPr>
              <a:t>DATABASE INTEGRATION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212B"/>
                </a:solidFill>
              </a:rPr>
              <a:t>The feature is backed by migrations, models, relationships, and seeded data.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21208" y="12984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67085"/>
                </a:solidFill>
              </a:rPr>
              <a:t>Step 4 development includes persistent tables and Eloquent relationships that connect users, profiles, messages, reports, and access logs.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77240" y="1847088"/>
            <a:ext cx="2331720" cy="187452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847088"/>
            <a:ext cx="64008" cy="1874520"/>
          </a:xfrm>
          <a:prstGeom prst="rect">
            <a:avLst/>
          </a:prstGeom>
          <a:solidFill>
            <a:srgbClr val="1457D9"/>
          </a:solidFill>
          <a:ln w="12700">
            <a:solidFill>
              <a:srgbClr val="1457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011680"/>
            <a:ext cx="1984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</a:rPr>
              <a:t>Migration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350008"/>
            <a:ext cx="19842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</a:rPr>
              <a:t>create_reports_table adds reporter, reported account, status, notes, reviewer, and timestamps.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11880" y="1847088"/>
            <a:ext cx="2331720" cy="187452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11880" y="1847088"/>
            <a:ext cx="64008" cy="1874520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2011680"/>
            <a:ext cx="1984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</a:rPr>
              <a:t>Model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840480" y="2350008"/>
            <a:ext cx="19842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</a:rPr>
              <a:t>Report defines categories, statuses, casts, and reporter/reported/reviewer relations.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46520" y="1847088"/>
            <a:ext cx="2331720" cy="187452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46520" y="1847088"/>
            <a:ext cx="64008" cy="1874520"/>
          </a:xfrm>
          <a:prstGeom prst="rect">
            <a:avLst/>
          </a:prstGeom>
          <a:solidFill>
            <a:srgbClr val="E84A5F"/>
          </a:solidFill>
          <a:ln w="12700">
            <a:solidFill>
              <a:srgbClr val="E84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2011680"/>
            <a:ext cx="1984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</a:rPr>
              <a:t>Controller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75120" y="2350008"/>
            <a:ext cx="19842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</a:rPr>
              <a:t>ReportController handles user submission and admin index/show/update/delete.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281160" y="1847088"/>
            <a:ext cx="2331720" cy="187452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281160" y="1847088"/>
            <a:ext cx="64008" cy="1874520"/>
          </a:xfrm>
          <a:prstGeom prst="rect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09760" y="2011680"/>
            <a:ext cx="1984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</a:rPr>
              <a:t>Admin data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509760" y="2350008"/>
            <a:ext cx="19842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</a:rPr>
              <a:t>Dashboard counts pending reports and lists recent cases for quick moderation.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960120" y="4434840"/>
            <a:ext cx="9875520" cy="804672"/>
          </a:xfrm>
          <a:prstGeom prst="roundRect">
            <a:avLst>
              <a:gd name="adj" fmla="val 9091"/>
            </a:avLst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34440" y="4690872"/>
            <a:ext cx="9326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Route evidence: POST /reports/{user} + admin/reports index, show, update, destroy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08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8B8D"/>
                </a:solidFill>
              </a:rPr>
              <a:t>TESTING AND QA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212B"/>
                </a:solidFill>
              </a:rPr>
              <a:t>The implementation was exercised through migrations, screenshots, Blade compilation, and automated tests.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21208" y="12984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67085"/>
                </a:solidFill>
              </a:rPr>
              <a:t>The local demo used SQLite for repeatable verification while the production-style .env remains ready for MySQL once XAMPP MySQL is running.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2057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37A57"/>
                </a:solidFill>
              </a:rPr>
              <a:t>2/2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</a:rPr>
              <a:t>Laravel tests passed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2834640" y="2057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457D9"/>
                </a:solidFill>
              </a:rPr>
              <a:t>5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2834640" y="24688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</a:rPr>
              <a:t>report routes verified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937760" y="2057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E84A5F"/>
                </a:solidFill>
              </a:rPr>
              <a:t>8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4937760" y="24688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</a:rPr>
              <a:t>screenshots captured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040880" y="2057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F8B8D"/>
                </a:solidFill>
              </a:rPr>
              <a:t>21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7040880" y="24688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</a:rPr>
              <a:t>seeded demo users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914400" y="3794760"/>
            <a:ext cx="301752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794760"/>
            <a:ext cx="64008" cy="1234440"/>
          </a:xfrm>
          <a:prstGeom prst="rect">
            <a:avLst/>
          </a:prstGeom>
          <a:solidFill>
            <a:srgbClr val="1457D9"/>
          </a:solidFill>
          <a:ln w="12700">
            <a:solidFill>
              <a:srgbClr val="1457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3959352"/>
            <a:ext cx="2670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</a:rPr>
              <a:t>Commands used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43000" y="4297680"/>
            <a:ext cx="2670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</a:rPr>
              <a:t>migrate:fresh --seed, route:list, view:cache, view:clear, artisan test.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480560" y="3794760"/>
            <a:ext cx="301752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80560" y="3794760"/>
            <a:ext cx="64008" cy="1234440"/>
          </a:xfrm>
          <a:prstGeom prst="rect">
            <a:avLst/>
          </a:prstGeom>
          <a:solidFill>
            <a:srgbClr val="E84A5F"/>
          </a:solidFill>
          <a:ln w="12700">
            <a:solidFill>
              <a:srgbClr val="E84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3959352"/>
            <a:ext cx="2670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</a:rPr>
              <a:t>Environment note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09160" y="4297680"/>
            <a:ext cx="2670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</a:rPr>
              <a:t>MySQL was stopped locally, so screenshots used SQLite to avoid blocking the demo.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046720" y="3794760"/>
            <a:ext cx="301752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6720" y="3794760"/>
            <a:ext cx="64008" cy="1234440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75320" y="3959352"/>
            <a:ext cx="2670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</a:rPr>
              <a:t>Evidence folder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75320" y="4297680"/>
            <a:ext cx="2670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</a:rPr>
              <a:t>docs/screenshots stores home, login, dashboard, reporting, admin, and Git images.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08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8B8D"/>
                </a:solidFill>
              </a:rPr>
              <a:t>VERSION CONTROL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212B"/>
                </a:solidFill>
              </a:rPr>
              <a:t>The Step 4 work is committed locally and ready for GitHub push.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21208" y="12984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67085"/>
                </a:solidFill>
              </a:rPr>
              <a:t>GitHub CLI is not installed and the expected GitHub repository was not found, so push instructions were prepared for the final remote step.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67512" y="1627632"/>
            <a:ext cx="7717536" cy="303580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pic>
        <p:nvPicPr>
          <p:cNvPr id="6" name="Image 0" descr="C:\xampp\htdocs\peerconnect\docs\screenshots\08-git-github-evid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45920"/>
            <a:ext cx="7680960" cy="29992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732520" y="1783080"/>
            <a:ext cx="251460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732520" y="1783080"/>
            <a:ext cx="64008" cy="1051560"/>
          </a:xfrm>
          <a:prstGeom prst="rect">
            <a:avLst/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961120" y="1947672"/>
            <a:ext cx="216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</a:rPr>
              <a:t>Local Git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961120" y="2286000"/>
            <a:ext cx="216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</a:rPr>
              <a:t>Branch main contains the Step 4 development commits.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8732520" y="3063240"/>
            <a:ext cx="251460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732520" y="3063240"/>
            <a:ext cx="64008" cy="1051560"/>
          </a:xfrm>
          <a:prstGeom prst="rect">
            <a:avLst/>
          </a:prstGeom>
          <a:solidFill>
            <a:srgbClr val="E84A5F"/>
          </a:solidFill>
          <a:ln w="12700">
            <a:solidFill>
              <a:srgbClr val="E84A5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61120" y="3227832"/>
            <a:ext cx="216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</a:rPr>
              <a:t>GitHub status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961120" y="3566160"/>
            <a:ext cx="216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</a:rPr>
              <a:t>Repository URL checked; repo not found yet.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732520" y="4343400"/>
            <a:ext cx="251460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732520" y="4343400"/>
            <a:ext cx="64008" cy="1051560"/>
          </a:xfrm>
          <a:prstGeom prst="rect">
            <a:avLst/>
          </a:prstGeom>
          <a:solidFill>
            <a:srgbClr val="1457D9"/>
          </a:solidFill>
          <a:ln w="12700">
            <a:solidFill>
              <a:srgbClr val="1457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961120" y="4507992"/>
            <a:ext cx="216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12B"/>
                </a:solidFill>
              </a:rPr>
              <a:t>Next command file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961120" y="4846320"/>
            <a:ext cx="216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</a:rPr>
              <a:t>docs/github-push-steps.md contains the exact push commands.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08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8B8D"/>
                </a:solidFill>
              </a:rPr>
              <a:t>DEMO PATH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212B"/>
                </a:solidFill>
              </a:rPr>
              <a:t>The presentation can close with a short live demonstration.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21208" y="129844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67085"/>
                </a:solidFill>
              </a:rPr>
              <a:t>Use the simplified credentials and follow a path that proves authentication, matching, reporting, admin review, testing, and Git evidence.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493776" cy="493776"/>
          </a:xfrm>
          <a:prstGeom prst="ellipse">
            <a:avLst/>
          </a:prstGeom>
          <a:solidFill>
            <a:srgbClr val="1457D9"/>
          </a:solidFill>
          <a:ln w="12700">
            <a:solidFill>
              <a:srgbClr val="1457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965960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417320" y="18470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12B"/>
                </a:solidFill>
              </a:rPr>
              <a:t>Login as student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417320" y="2176272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</a:rPr>
              <a:t>Use yasmine@student.peerconnect.test / password.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480560" y="1828800"/>
            <a:ext cx="493776" cy="493776"/>
          </a:xfrm>
          <a:prstGeom prst="ellipse">
            <a:avLst/>
          </a:prstGeom>
          <a:solidFill>
            <a:srgbClr val="1457D9"/>
          </a:solidFill>
          <a:ln w="12700">
            <a:solidFill>
              <a:srgbClr val="1457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1965960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20640" y="18470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12B"/>
                </a:solidFill>
              </a:rPr>
              <a:t>Show discovery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120640" y="2176272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</a:rPr>
              <a:t>Open Dashboard and explain teacher matching.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83880" y="1828800"/>
            <a:ext cx="493776" cy="493776"/>
          </a:xfrm>
          <a:prstGeom prst="ellipse">
            <a:avLst/>
          </a:prstGeom>
          <a:solidFill>
            <a:srgbClr val="1457D9"/>
          </a:solidFill>
          <a:ln w="12700">
            <a:solidFill>
              <a:srgbClr val="1457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48472" y="1965960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23960" y="18470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12B"/>
                </a:solidFill>
              </a:rPr>
              <a:t>Submit report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823960" y="2176272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</a:rPr>
              <a:t>Open Sami Teacher profile and show the safety form.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77240" y="3337560"/>
            <a:ext cx="493776" cy="493776"/>
          </a:xfrm>
          <a:prstGeom prst="ellipse">
            <a:avLst/>
          </a:prstGeom>
          <a:solidFill>
            <a:srgbClr val="1457D9"/>
          </a:solidFill>
          <a:ln w="12700">
            <a:solidFill>
              <a:srgbClr val="1457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1832" y="3474720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417320" y="33558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12B"/>
                </a:solidFill>
              </a:rPr>
              <a:t>Login as admin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417320" y="3685032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</a:rPr>
              <a:t>Use admin@peerconnect.test / admin123.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480560" y="3337560"/>
            <a:ext cx="493776" cy="493776"/>
          </a:xfrm>
          <a:prstGeom prst="ellipse">
            <a:avLst/>
          </a:prstGeom>
          <a:solidFill>
            <a:srgbClr val="1457D9"/>
          </a:solidFill>
          <a:ln w="12700">
            <a:solidFill>
              <a:srgbClr val="1457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45152" y="3474720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120640" y="33558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12B"/>
                </a:solidFill>
              </a:rPr>
              <a:t>Manage report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120640" y="3685032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</a:rPr>
              <a:t>Open Admin Reports and update case status/notes.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183880" y="3337560"/>
            <a:ext cx="493776" cy="493776"/>
          </a:xfrm>
          <a:prstGeom prst="ellipse">
            <a:avLst/>
          </a:prstGeom>
          <a:solidFill>
            <a:srgbClr val="1457D9"/>
          </a:solidFill>
          <a:ln w="12700">
            <a:solidFill>
              <a:srgbClr val="1457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48472" y="3474720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823960" y="33558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12B"/>
                </a:solidFill>
              </a:rPr>
              <a:t>Show Git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823960" y="3685032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</a:rPr>
              <a:t>Open the Git evidence screenshot and GitHub push steps.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051560" y="5193792"/>
            <a:ext cx="9921240" cy="685800"/>
          </a:xfrm>
          <a:prstGeom prst="roundRect">
            <a:avLst>
              <a:gd name="adj" fmla="val 10667"/>
            </a:avLst>
          </a:prstGeom>
          <a:solidFill>
            <a:srgbClr val="EAF8F1"/>
          </a:solidFill>
          <a:ln w="12700">
            <a:solidFill>
              <a:srgbClr val="EAF8F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25880" y="5413248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37A57"/>
                </a:solidFill>
              </a:rPr>
              <a:t>Result: PeerConnect is now a demonstrable dynamic Laravel website with real data, role-based flows, safety moderation, and version-control evidence.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08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ESPRIT School of Business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PeerConnect Step 4 Development</dc:title>
  <dc:subject>Step 4 Dynamic Website Development</dc:subject>
  <dc:creator>PeerConnect Team</dc:creator>
  <cp:lastModifiedBy>PeerConnect Team</cp:lastModifiedBy>
  <cp:revision>1</cp:revision>
  <dcterms:created xsi:type="dcterms:W3CDTF">2026-05-09T09:04:21Z</dcterms:created>
  <dcterms:modified xsi:type="dcterms:W3CDTF">2026-05-09T09:04:21Z</dcterms:modified>
</cp:coreProperties>
</file>